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9BE0EE-8D6B-4D4B-B71D-9E258C753AF2}">
  <a:tblStyle styleId="{F69BE0EE-8D6B-4D4B-B71D-9E258C753A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(Integrante 1). Apresentar o grupo e o tema: projetamos o controle digital de um amortecedor que ajusta, a cada milissegundo, o quanto a suspensão freia, para reduzir a aceleração que o passageiro sente.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1 · ~1:20</a:t>
            </a:r>
            <a:br>
              <a:rPr lang="en-US"/>
            </a:br>
            <a:br>
              <a:rPr lang="en-US"/>
            </a:br>
            <a:r>
              <a:rPr lang="en-US"/>
              <a:t>PROBLEMA. A suspensão tem dois objetivos que brigam: conforto (isolar a carroceria, medido pela aceleração vertical) e aderência (pneu no chão, medido pela deformação do pneu). Analogia: o amortecedor de carro de corrida segura a roda e chacoalha o piloto; o de carro de luxo é macio e 'flutua'. A passiva escolhe um valor de c uma vez, na fábrica — Wang et al. [1, §1]: não se adapta às condições da pista e não resolve a contradição conforto × estabilidade.</a:t>
            </a:r>
            <a:br>
              <a:rPr lang="en-US"/>
            </a:br>
            <a:br>
              <a:rPr lang="en-US"/>
            </a:br>
            <a:r>
              <a:rPr lang="en-US"/>
              <a:t>Números (nosso modelo, critérios de Díaz-Choque [2]): macio c = 600 → |xu/w| = 4,47 no pico da roda (reprova aderência); firme c = 2400 → a 5 Hz transmite 367 contra 119 do macio (3×). Nenhum c fixo resolve os dois lados.</a:t>
            </a:r>
            <a:br>
              <a:rPr lang="en-US"/>
            </a:br>
            <a:br>
              <a:rPr lang="en-US"/>
            </a:br>
            <a:r>
              <a:rPr lang="en-US"/>
              <a:t>SOLUÇÃO. A semiativa varia c(t) em tempo real com uma válvula. Só dissipa energia: Fd = c·vrel com c &gt; 0, então nunca empurra. Desempenho superior à passiva sem a complexidade da ativa, bom custo-benefício [3, p. 2].</a:t>
            </a:r>
            <a:br>
              <a:rPr lang="en-US"/>
            </a:br>
            <a:br>
              <a:rPr lang="en-US"/>
            </a:br>
            <a:r>
              <a:rPr lang="en-US"/>
              <a:t>Pergunta provável: 'Por que não zerar a aceleração?' → o amortecedor só dissipa, e no ponto invariante (11,25 Hz) a aceleração vale (kt/ms)·w para qualquer amortecedor (0,57 m/s² RMS com 1 mm).</a:t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1 · ~1:30</a:t>
            </a:r>
            <a:br>
              <a:rPr lang="en-US"/>
            </a:br>
            <a:br>
              <a:rPr lang="en-US"/>
            </a:br>
            <a:r>
              <a:rPr lang="en-US"/>
              <a:t>O CDC da ZF é o produto de referência: amortecedor bitubo com uma válvula proporcional eletro-hidráulica como componente central; o solenoide controla a área do orifício [1, §4.1]. A ZF cita o skyhook no modo conforto e até 100 ajustes por segundo [4]; [1, §5.1 e Tab. 4] lista o CDC entre as implementações industriais de skyhook.</a:t>
            </a:r>
            <a:br>
              <a:rPr lang="en-US"/>
            </a:br>
            <a:br>
              <a:rPr lang="en-US"/>
            </a:br>
            <a:r>
              <a:rPr lang="en-US"/>
              <a:t>Fala-chave: 'O CDC é uma válvula proporcional comandada por corrente e decidida pelo skyhook. Copiamos a arquitetura.'</a:t>
            </a:r>
            <a:br>
              <a:rPr lang="en-US"/>
            </a:br>
            <a:br>
              <a:rPr lang="en-US"/>
            </a:br>
            <a:r>
              <a:rPr lang="en-US"/>
              <a:t>Adaptações: a ZF não publica τ, R, L, faixa de c nem forças — por isso cada número tem fonte própria (patente Delphi, catálogo HydraForce, Ortiz-Espinoza). Polaridade: no CDC mais corrente = mais macio e, sem corrente, vai para o intermediário (patente ZF). Adotamos o inverso, que também existe (válvula inversamente proporcional, [1] ref. 88): o mapa fica crescente e a conversão c* → i fica simples.</a:t>
            </a:r>
            <a:br>
              <a:rPr lang="en-US"/>
            </a:br>
            <a:br>
              <a:rPr lang="en-US"/>
            </a:br>
            <a:r>
              <a:rPr lang="en-US"/>
              <a:t>Quarter-car de 2 GDL (o mesmo de [1], [2] e [3]): sem a roda não aparecem a aderência nem o ponto invariante. Parâmetros e FT ficam para o slide da suspensão.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1 · ~1:30</a:t>
            </a:r>
            <a:br>
              <a:rPr lang="en-US"/>
            </a:br>
            <a:br>
              <a:rPr lang="en-US"/>
            </a:br>
            <a:r>
              <a:rPr lang="en-US"/>
              <a:t>Só a caixa azul é código, executado a cada T = 1 ms. Embaixo, a parte física contínua.</a:t>
            </a:r>
            <a:br>
              <a:rPr lang="en-US"/>
            </a:br>
            <a:br>
              <a:rPr lang="en-US"/>
            </a:br>
            <a:r>
              <a:rPr lang="en-US"/>
              <a:t>Variáveis (seção 2.3 do relatório): controlada = aceleração vertical da carroceria a_s; manipulada = coeficiente de amortecimento c(t), comandado pela corrente; entrada = perturbação w(t), o perfil da pista, que entra pelo pneu. Referência r = 0: é um regulador — não há valor a seguir, o sistema rejeita w(t). Por isso a FT que interessa é de w para a_s.</a:t>
            </a:r>
            <a:br>
              <a:rPr lang="en-US"/>
            </a:br>
            <a:br>
              <a:rPr lang="en-US"/>
            </a:br>
            <a:r>
              <a:rPr lang="en-US"/>
              <a:t>Cascata: a malha externa (skyhook) decide quanto amortecer; a interna (PI de corrente) faz a válvula obedecer. A separação segue a estrutura do CDC e respeita Wang et al. [1, §1, p. 2]: um PID aplicado direto 'não consegue coordenar o desempenho: a melhora de um índice causa a deterioração de outro'. Índice = índice de desempenho: aceleração da carroceria (conforto), curso da suspensão, carga dinâmica/deformação do pneu (aderência). Ex.: reduzir a aceleração tende a soltar a roda.</a:t>
            </a:r>
            <a:br>
              <a:rPr lang="en-US"/>
            </a:br>
            <a:br>
              <a:rPr lang="en-US"/>
            </a:br>
            <a:r>
              <a:rPr lang="en-US"/>
              <a:t>Seguimento × decisão: na malha interna há uma referência clara (i_ref) e a corrente tem de segui-la — problema clássico em que o PI funciona bem. Decidir quanto amortecer é um compromisso, e fica com o skyhook.</a:t>
            </a:r>
            <a:br>
              <a:rPr lang="en-US"/>
            </a:br>
            <a:br>
              <a:rPr lang="en-US"/>
            </a:br>
            <a:r>
              <a:rPr lang="en-US"/>
              <a:t>O bloco × v_rel existe porque Fd = c·v_rel: é a não linearidade da planta. Anunciar: 'Agora vamos seguir o sinal pelo diagrama, bloco a bloco.'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2 · ~1:30</a:t>
            </a:r>
            <a:br>
              <a:rPr lang="en-US"/>
            </a:br>
            <a:br>
              <a:rPr lang="en-US"/>
            </a:br>
            <a:r>
              <a:rPr lang="en-US"/>
              <a:t>01 · Por que digital: os sensores geram sinais contínuos e a lei roda num microcontrolador, como a ECU do CDC. O A/D lê os sensores 1000 vezes por segundo (T = 1 ms) — a malha mais rápida é a de corrente (~80 Hz); Nyquist pede &gt; 160 Hz e a regra prática 10–30× a banda. A lei skyhook tem teste de sinal, divisão e saturação: fácil em código, difícil num circuito analógico. E ajustar c_sky é só mudar o software.</a:t>
            </a:r>
            <a:br>
              <a:rPr lang="en-US"/>
            </a:br>
            <a:br>
              <a:rPr lang="en-US"/>
            </a:br>
            <a:r>
              <a:rPr lang="en-US"/>
              <a:t>02 · Skyhook (Karnopp, 1974): imagine um amortecedor preso a um gancho no céu — ele frearia só a carroceria, com F = −c_sky·ẋs. Esse amortecedor não existe: o real está entre carroceria e roda e só freia o movimento relativo. A lei semiativa faz o real imitar o ideal quando o sinal permite (ẋs·vrel ≥ 0: endurece) e, quando não permite, fica o mais macio possível (c_mín). Lombada: a roda sobe de repente → macio, para não empurrar a carroceria; a carroceria começa a subir e a roda já desce → firme, para segurá-la. Sem saturação, c*·vrel = c_sky·ẋs: reproduz exatamente o skyhook ideal. Quando vrel ≈ 0 a divisão é protegida (vai para c_máx).</a:t>
            </a:r>
            <a:br>
              <a:rPr lang="en-US"/>
            </a:br>
            <a:br>
              <a:rPr lang="en-US"/>
            </a:br>
            <a:r>
              <a:rPr lang="en-US"/>
              <a:t>Por que skyhook: é a lógica que a ZF usa no CDC [4]; a indústria o prefere pela 'simplicidade computacional, alta confiabilidade e maturidade comprovada' [1, §5.1]. Limitação honesta: piora a região da roda — em [2, Tab. 3] a transmissibilidade da roda foi de 2,8 para 4,0. Por isso vamos monitorar a deformação do pneu.</a:t>
            </a:r>
            <a:br>
              <a:rPr lang="en-US"/>
            </a:br>
            <a:br>
              <a:rPr lang="en-US"/>
            </a:br>
            <a:r>
              <a:rPr lang="en-US"/>
              <a:t>03 · Conversão: i_ref = (c* − 600)/1200, com 0 ≤ i_ref ≤ 1,5 A. Exemplo: 1500 N·s/m → 0,75 A. Esse valor é a referência da malha interna (próximo slide).</a:t>
            </a:r>
            <a:br>
              <a:rPr lang="en-US"/>
            </a:br>
            <a:br>
              <a:rPr lang="en-US"/>
            </a:br>
            <a:r>
              <a:rPr lang="en-US"/>
              <a:t>Pergunta provável: 'Se a variável controlada é a aceleração, por que realimentar velocidade?' → o skyhook ataca a ressonância da carroceria (~1,25 Hz), onde está a maior parte do movimento.</a:t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2 · ~1:30</a:t>
            </a:r>
            <a:br>
              <a:rPr lang="en-US"/>
            </a:br>
            <a:br>
              <a:rPr lang="en-US"/>
            </a:br>
            <a:r>
              <a:rPr lang="en-US"/>
              <a:t>Por que PI: o P melhora a velocidade de resposta e o I elimina o erro em regime permanente — a corrente tem de chegar exatamente ao valor pedido pelo skyhook. Por que não PID: a bobina é de 1ª ordem; o PI com cancelamento já dá malha fechada de 1ª ordem, sem sobressinal; o D só amplificaria ruído.</a:t>
            </a:r>
            <a:br>
              <a:rPr lang="en-US"/>
            </a:br>
            <a:br>
              <a:rPr lang="en-US"/>
            </a:br>
            <a:r>
              <a:rPr lang="en-US"/>
              <a:t>Projeto: escolhendo Ki/Kp = R/L, o zero do PI cancela o polo da bobina e a malha fecha como 1ª ordem com ωi = Kp/L = 500 rad/s (τ = 2 ms). Kp = 10 V/A, Ki = 2500 V/(A·s).</a:t>
            </a:r>
            <a:br>
              <a:rPr lang="en-US"/>
            </a:br>
            <a:br>
              <a:rPr lang="en-US"/>
            </a:br>
            <a:r>
              <a:rPr lang="en-US"/>
              <a:t>Tustin: GPI(z) = (11,25z − 8,75)/(z − 1). A equação de diferenças é literalmente o código do microcontrolador: u[k] = u[k−1] + 11,25·e[k] − 8,75·e[k−1].</a:t>
            </a:r>
            <a:br>
              <a:rPr lang="en-US"/>
            </a:br>
            <a:br>
              <a:rPr lang="en-US"/>
            </a:br>
            <a:r>
              <a:rPr lang="en-US"/>
              <a:t>Malha fechada: polos 0,777 e 0,504 (|z| &lt; 1), ganho DC unitário. Jury com ganho K: estável para 0 &lt; K &lt; 4,02 — margem de ~4× (com Euler seria 0 &lt; K &lt; 3,57). Acomoda em ~6 ms, abaixo dos 15 ms da válvula, como deve ser numa cascata.</a:t>
            </a:r>
            <a:br>
              <a:rPr lang="en-US"/>
            </a:br>
            <a:br>
              <a:rPr lang="en-US"/>
            </a:br>
            <a:r>
              <a:rPr lang="en-US"/>
              <a:t>D/A: a saída do PI (digital) é convertida em tensão analógica. O ZOH segura cada valor até a próxima amostra (atraso médio T/2 = 0,5 ms). Saturação 0–12 V com anti-windup (integrador congelado quando satura). Próximo bloco: a bobina.</a:t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2 · ~1:00</a:t>
            </a:r>
            <a:br>
              <a:rPr lang="en-US"/>
            </a:br>
            <a:br>
              <a:rPr lang="en-US"/>
            </a:br>
            <a:r>
              <a:rPr lang="en-US"/>
              <a:t>A bobina recebe a tensão do D/A e a transforma em corrente; essa corrente é medida (A/D) e realimenta o compensador digital — é a malha interna.</a:t>
            </a:r>
            <a:br>
              <a:rPr lang="en-US"/>
            </a:br>
            <a:br>
              <a:rPr lang="en-US"/>
            </a:br>
            <a:r>
              <a:rPr lang="en-US"/>
              <a:t>Modelo: Kirchhoff no solenoide, L·di/dt + R·i = V → Gb(s) = 1/(Ls + R). Constante de tempo L/R = 4 ms, polo em −250 rad/s (≈ 40 Hz).</a:t>
            </a:r>
            <a:br>
              <a:rPr lang="en-US"/>
            </a:br>
            <a:br>
              <a:rPr lang="en-US"/>
            </a:br>
            <a:r>
              <a:rPr lang="en-US"/>
              <a:t>Visto pelo controlador (ZOH, T = 1 ms): Gb(z) = 0,04424/(z − 0,7788); o polo vai de s = −250 para z = e^(−0,25) = 0,7788.</a:t>
            </a:r>
            <a:br>
              <a:rPr lang="en-US"/>
            </a:br>
            <a:br>
              <a:rPr lang="en-US"/>
            </a:br>
            <a:r>
              <a:rPr lang="en-US"/>
              <a:t>PWM: a tensão é chaveada a 2 kHz, mas a bobina responde à média (V = 12·D) porque 2 kHz ≫ 40 Hz. Por isso o PWM entra na FT como ganho. Ondulação ≤ 0,075 A. Para 1,5 A em regime basta D = 62,5 %.</a:t>
            </a:r>
            <a:br>
              <a:rPr lang="en-US"/>
            </a:br>
            <a:br>
              <a:rPr lang="en-US"/>
            </a:br>
            <a:r>
              <a:rPr lang="en-US"/>
              <a:t>Valores: R = 5 Ω e 12 V do catálogo HydraForce série 70. L = 0,02 H é valor de trabalho (o catálogo não informa) — dizer isso com honestidade se perguntarem. Depois de gerar a corrente, ela vai para a válvula.</a:t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2 · ~1:15</a:t>
            </a:r>
            <a:br>
              <a:rPr lang="en-US"/>
            </a:br>
            <a:br>
              <a:rPr lang="en-US"/>
            </a:br>
            <a:r>
              <a:rPr lang="en-US"/>
              <a:t>Com a corrente chegamos ao amortecimento. Cadeia física [1]: corrente → força magnética no solenoide → área do orifício → vazão de óleo → diferença de pressão → força de amortecimento. Para o controle, a válvula transforma corrente em coeficiente de amortecimento.</a:t>
            </a:r>
            <a:br>
              <a:rPr lang="en-US"/>
            </a:br>
            <a:br>
              <a:rPr lang="en-US"/>
            </a:br>
            <a:r>
              <a:rPr lang="en-US"/>
              <a:t>Modelo: mapa estático linear com saturação, c = 600 + 1200·i, seguido de uma dinâmica de 1ª ordem com ganho 1, Gval(s) = 1/(τ s + 1), τ = 15 ms. O ganho fica só no mapa (Kci) para não contar duas vezes.</a:t>
            </a:r>
            <a:br>
              <a:rPr lang="en-US"/>
            </a:br>
            <a:br>
              <a:rPr lang="en-US"/>
            </a:br>
            <a:r>
              <a:rPr lang="en-US"/>
              <a:t>Valores: c_mín = 600 da patente Delphi; c_máx = 2400 (razão 4, dentro do 'turn-up ratio' de 3 a 6); 0–1,5 A da HydraForce; τ = 15 ms de amortecedor comercial (Ortiz-Espinoza 2014), com sensibilidade a 5,3 ms (Díaz-Choque) e 1,5/8/20 ms (Strecker).</a:t>
            </a:r>
            <a:br>
              <a:rPr lang="en-US"/>
            </a:br>
            <a:br>
              <a:rPr lang="en-US"/>
            </a:br>
            <a:r>
              <a:rPr lang="en-US"/>
              <a:t>Por que não ON/OFF: só dois valores, é uma não-linearidade binária sem FT. Wang et al. relatam que o chaveamento discreto de orifício gerou oscilações transitórias indesejadas pela mudança brusca do fluxo (§4.1) e que o skyhook ON-OFF provoca chattering — troca rápida entre os estados — sob excitação de alta frequência (§2.2). Obs.: as referências não falam em desgaste da válvula; não afirmar isso sem fonte. A proporcional dá c contínuo, como no CDC.</a:t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3 · ~1:30</a:t>
            </a:r>
            <a:br>
              <a:rPr lang="en-US"/>
            </a:br>
            <a:br>
              <a:rPr lang="en-US"/>
            </a:br>
            <a:r>
              <a:rPr lang="en-US"/>
              <a:t>Quarter-car de 2 GDL: massa suspensa ms (carroceria), massa não suspensa mu (roda), mola ks, amortecedor variável c(t) e rigidez do pneu kt. Mesmo modelo de [1], [2] e [3].</a:t>
            </a:r>
            <a:br>
              <a:rPr lang="en-US"/>
            </a:br>
            <a:br>
              <a:rPr lang="en-US"/>
            </a:br>
            <a:r>
              <a:rPr lang="en-US"/>
              <a:t>Parâmetros: ms = 250 kg (1/4 de carro compacto; [2] usa 400 e [3] 355), mu = 40 kg ([2]), ks = 16 000 N/m (carroceria a 1,23 Hz; Gillespie recomenda ~1 Hz), kt = 200 000 N/m (Jazar via [3]), c_eq = 1500 (ζ = 0,375, dentro de 0,2–0,4). Frequências: carroceria 1,25 Hz, roda 11,5 Hz.</a:t>
            </a:r>
            <a:br>
              <a:rPr lang="en-US"/>
            </a:br>
            <a:br>
              <a:rPr lang="en-US"/>
            </a:br>
            <a:r>
              <a:rPr lang="en-US"/>
              <a:t>FT: a força c·vrel é o produto de dois sinais, então linearizamos em torno de c_eq = 1500: a parcela c_eq·vrel fica na planta e Δc·vrel é a força de controle. Gp(s) = As/U = s²(mu s² + kt)/Δ(s) — essa FT pega o amortecimento gerado ao longo do sistema e mostra o comportamento da suspensão. Os zeros em ±j√(kt/mu) = 11,25 Hz são o ponto invariante.</a:t>
            </a:r>
            <a:br>
              <a:rPr lang="en-US"/>
            </a:br>
            <a:br>
              <a:rPr lang="en-US"/>
            </a:br>
            <a:r>
              <a:rPr lang="en-US"/>
              <a:t>Distúrbio: w(t) entra direto nesse bloco, pelo pneu, com Gw(s) = kt s²(c_eq s + ks)/Δ(s). Testes: pista ISO 8608 (classe e velocidade definem o teste; V = 20 m/s ≈ 72 km/h) e a lombada de [2] com pico de 30 mm.</a:t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3 · ~0:50</a:t>
            </a:r>
            <a:br>
              <a:rPr lang="en-US"/>
            </a:br>
            <a:br>
              <a:rPr lang="en-US"/>
            </a:br>
            <a:r>
              <a:rPr lang="en-US"/>
              <a:t>A lei skyhook precisa da velocidade absoluta da carroceria e da velocidade relativa. Os sensores típicos medem aceleração da carroceria, aceleração da roda e deslocamento relativo [1, Tab. 2]; o resto sai por integração ou derivação.</a:t>
            </a:r>
            <a:br>
              <a:rPr lang="en-US"/>
            </a:br>
            <a:br>
              <a:rPr lang="en-US"/>
            </a:br>
            <a:r>
              <a:rPr lang="en-US"/>
              <a:t>Escolha igual à do CDC: dois acelerômetros — um na carroceria (a_s) e um na roda, na massa não suspensa (a_u). As duas velocidades saem com uma integração cada.</a:t>
            </a:r>
            <a:br>
              <a:rPr lang="en-US"/>
            </a:br>
            <a:br>
              <a:rPr lang="en-US"/>
            </a:br>
            <a:r>
              <a:rPr lang="en-US"/>
              <a:t>Integrador com fuga 1/(s + ω_hp), ω_hp = 2π·0,1 rad/s: um integrador puro acumularia qualquer offset do acelerômetro como deriva e deixa um polo em z = 1 na malha (estabilidade marginal). Na ressonância da carroceria o erro é de só 4,8° e 0,4 %.</a:t>
            </a:r>
            <a:br>
              <a:rPr lang="en-US"/>
            </a:br>
            <a:br>
              <a:rPr lang="en-US"/>
            </a:br>
            <a:r>
              <a:rPr lang="en-US"/>
              <a:t>O acelerômetro também faz o anti-aliasing: passa-baixas com corte abaixo de fs/2 = 500 Hz (constante definida pelo datasheet).</a:t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3 · ~0:45</a:t>
            </a:r>
            <a:br>
              <a:rPr lang="en-US"/>
            </a:br>
            <a:br>
              <a:rPr lang="en-US"/>
            </a:br>
            <a:r>
              <a:rPr lang="en-US"/>
              <a:t>Regras de redução aplicadas: (1) a malha interna é fechada primeiro — PI e bobina com a realimentação de corrente viram GPI/(1 + GPI·Gb); o PI não pode ficar em série com a bobina sem a realimentação. (2) Os blocos contínuos sem amostrador entre si (bobina, válvula, ganho de linearização, planta e sensor) são multiplicados em s e discretizados juntos com ZOH: Gtotal(z). (3) A lei skyhook não linear é substituída pela forma linear Ksky(z), que inclui o integrador com fuga (o skyhook usa velocidade). (4) A pista w(t) continua no diagrama, entrando antes do amostrador.</a:t>
            </a:r>
            <a:br>
              <a:rPr lang="en-US"/>
            </a:br>
            <a:br>
              <a:rPr lang="en-US"/>
            </a:br>
            <a:r>
              <a:rPr lang="en-US"/>
              <a:t>Fala-chave: 'Fechamos primeiro a malha interna e depois multiplicamos em série. É a regra de redução aplicada ao nosso caso.'</a:t>
            </a:r>
            <a:endParaRPr/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Etapa 3: fechamos a malha interna, M(z) = GPI·Gtotal/(1 + GPI·Gb), e depois a externa com o skyhook linearizado: Am(z)/R(z) = Ksky·M/(1 + Ksky·M).</a:t>
            </a:r>
            <a:br>
              <a:rPr lang="en-US"/>
            </a:br>
            <a:br>
              <a:rPr lang="en-US"/>
            </a:br>
            <a:r>
              <a:rPr lang="en-US"/>
              <a:t>Ksky(z) = −[c_sky/(Kci·v̄rel)]·I(z), com I(z) o integrador com fuga em Tustin. Ksky é dinâmico, não um ganho: o skyhook usa velocidade e a medida é aceleração. O fator −1/(Kci·v̄rel) cancela o −Kci·v̄rel do caminho direto: a malha não depende do ponto de operação (verificado com v̄rel = 0,1 e 0,4 m/s).</a:t>
            </a:r>
            <a:br>
              <a:rPr lang="en-US"/>
            </a:br>
            <a:br>
              <a:rPr lang="en-US"/>
            </a:br>
            <a:r>
              <a:rPr lang="en-US"/>
              <a:t>Resultado (modelo linear): todos os polos dentro do círculo unitário — maior |z| = 0,99926 com c_sky = 3000, que é o polo da própria fuga (0,12 Hz). Estável até c_sky ≈ 32 000 (≈ 10× de margem). Com integrador puro aparece um polo em z = 1 — por isso a fuga.</a:t>
            </a:r>
            <a:br>
              <a:rPr lang="en-US"/>
            </a:br>
            <a:br>
              <a:rPr lang="en-US"/>
            </a:br>
            <a:r>
              <a:rPr lang="en-US"/>
              <a:t>Validade: a FT vale perto do ponto de operação e serve para estabilidade e sintonia preliminar; saturação, troca de sinal e o produto c·vrel só aparecem na simulação não linear.</a:t>
            </a:r>
            <a:br>
              <a:rPr lang="en-US"/>
            </a:br>
            <a:br>
              <a:rPr lang="en-US"/>
            </a:br>
            <a:r>
              <a:rPr lang="en-US"/>
              <a:t>Pergunta provável: 'O skyhook não tem FT. Como fecharam a malha?' → usamos a força skyhook linear de [1] eq. 2, que é o que a lei contínua reproduz quando não satura.</a:t>
            </a:r>
            <a:endParaRPr/>
          </a:p>
        </p:txBody>
      </p:sp>
      <p:sp>
        <p:nvSpPr>
          <p:cNvPr id="314" name="Google Shape;314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Integrante 3 · ~1:00</a:t>
            </a:r>
            <a:br>
              <a:rPr lang="en-US"/>
            </a:br>
            <a:br>
              <a:rPr lang="en-US"/>
            </a:br>
            <a:r>
              <a:rPr lang="en-US"/>
              <a:t>1. Implementar no Xcos o modelo não linear completo do diagrama geral: produto c·vrel, saturações (c*, i_ref, u), estimador com fuga e PWM médio.</a:t>
            </a:r>
            <a:br>
              <a:rPr lang="en-US"/>
            </a:br>
            <a:r>
              <a:rPr lang="en-US"/>
              <a:t>2. Comparar com as referências da metodologia de Díaz-Choque: a passiva (c = 1500) e a malha aberta (i = 0 → c = 600). Ajuste pior que elas é descartado. Critérios (i), (ii) adaptado e (iii).</a:t>
            </a:r>
            <a:br>
              <a:rPr lang="en-US"/>
            </a:br>
            <a:r>
              <a:rPr lang="en-US"/>
              <a:t>3. Ajustar c_sky: começar em 3000 e varrer (superfícies de decisão de [2]), respeitando os limites de operação: 600–2400 N·s/m, 0–1,5 A, 0–12 V.</a:t>
            </a:r>
            <a:br>
              <a:rPr lang="en-US"/>
            </a:br>
            <a:r>
              <a:rPr lang="en-US"/>
              <a:t>4. Validar: RMS da aceleração da carroceria (ponderada pela ISO 2631-1), deformação do pneu (aderência) e robustez a τ_val (5,3 a 20 ms) e a T (1 e 2 ms).</a:t>
            </a:r>
            <a:br>
              <a:rPr lang="en-US"/>
            </a:br>
            <a:br>
              <a:rPr lang="en-US"/>
            </a:br>
            <a:r>
              <a:rPr lang="en-US"/>
              <a:t>Testes: lombada de 30 mm, pista ISO 8608 e variação de parâmetros. Ordem de grandeza esperada: em [2] o skyhook reduziu 41 % (pista) e 30 % (lombada) — deixar claro que é literatura, com outro veículo e amortecedor MR.</a:t>
            </a:r>
            <a:endParaRPr/>
          </a:p>
        </p:txBody>
      </p:sp>
      <p:sp>
        <p:nvSpPr>
          <p:cNvPr id="346" name="Google Shape;3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Deixar na tela durante as perguntas, se preferirem. Todas as citações dos rodapés usam esta numeração.</a:t>
            </a:r>
            <a:endParaRPr/>
          </a:p>
        </p:txBody>
      </p:sp>
      <p:sp>
        <p:nvSpPr>
          <p:cNvPr id="381" name="Google Shape;38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 (Integrante 3).</a:t>
            </a:r>
            <a:br>
              <a:rPr lang="en-US"/>
            </a:br>
            <a:br>
              <a:rPr lang="en-US"/>
            </a:br>
            <a:r>
              <a:rPr lang="en-US"/>
              <a:t>O problema é real e mensurável: nenhum c fixo atende conforto e aderência ao mesmo tempo; o ponto invariante impõe um limite físico (0,57 m/s² com w = 1 mm) que torna um dos critérios da literatura inatingível — ele foi adaptado.</a:t>
            </a:r>
            <a:br>
              <a:rPr lang="en-US"/>
            </a:br>
            <a:br>
              <a:rPr lang="en-US"/>
            </a:br>
            <a:r>
              <a:rPr lang="en-US"/>
              <a:t>A arquitetura segue a referência de mercado: cascata skyhook + PI de corrente, como no ZF CDC, com cada parâmetro rastreado até uma fonte ou declarado como hipótese.</a:t>
            </a:r>
            <a:br>
              <a:rPr lang="en-US"/>
            </a:br>
            <a:br>
              <a:rPr lang="en-US"/>
            </a:br>
            <a:r>
              <a:rPr lang="en-US"/>
              <a:t>Controle 2 em cada etapa: amostragem a 1 ms, ZOH, Tustin, equação de diferenças, Jury (0 &lt; K &lt; 4,02) e a FT geral linearizada, estável com integrador com fuga e margem de ~10× em c_sky.</a:t>
            </a:r>
            <a:br>
              <a:rPr lang="en-US"/>
            </a:br>
            <a:br>
              <a:rPr lang="en-US"/>
            </a:br>
            <a:r>
              <a:rPr lang="en-US"/>
              <a:t>Fala-chave: 'A teoria está montada e a malha linearizada é estável. O próximo passo é medir o ganho na simulação não linear.'</a:t>
            </a:r>
            <a:endParaRPr/>
          </a:p>
        </p:txBody>
      </p:sp>
      <p:sp>
        <p:nvSpPr>
          <p:cNvPr id="391" name="Google Shape;39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viniciusblanco/Documentos/Controle Digital/Apresentacao/figs_v2/quarter_car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248" y="594360"/>
            <a:ext cx="4334256" cy="5669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48640" y="502920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502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1" baseline="3000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−1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1060704" y="50292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Controle 2 · Apresentação S1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48640" y="1325880"/>
            <a:ext cx="67665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Amortecedor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Inteligente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548640" y="342900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5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D4450"/>
                </a:solidFill>
                <a:latin typeface="Arial"/>
                <a:ea typeface="Arial"/>
                <a:cs typeface="Arial"/>
                <a:sym typeface="Arial"/>
              </a:rPr>
              <a:t>Controle digital de uma suspensão semiativa, com a ZF CDC como referência de mercado.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548640" y="4434840"/>
            <a:ext cx="66751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João Luís Ramos Defendi Vignoli · RA 832962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Murilo Oliva Mantovani · RA 834730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Vinicius Matheus Blanco · RA 823357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UFSCar · Engenharia de Computação · Prof. Dr. Orides Morandin Junior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5897880"/>
            <a:ext cx="2286000" cy="420624"/>
          </a:xfrm>
          <a:prstGeom prst="roundRect">
            <a:avLst>
              <a:gd fmla="val 17391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548640" y="58978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SÃO CARLOS ·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O PONTO DE PARTIDA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O problema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e a solução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371600"/>
            <a:ext cx="1737360" cy="329184"/>
          </a:xfrm>
          <a:prstGeom prst="roundRect">
            <a:avLst>
              <a:gd fmla="val 22222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548640" y="137160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3099791"/>
            <a:ext cx="2633400" cy="1481400"/>
          </a:xfrm>
          <a:prstGeom prst="roundRect">
            <a:avLst>
              <a:gd fmla="val 86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31520" y="3264382"/>
            <a:ext cx="457200" cy="45720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3374111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1325880" y="3264382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Conforto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731520" y="3831311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50"/>
              </a:buClr>
              <a:buSzPts val="1150"/>
              <a:buFont typeface="Arial"/>
              <a:buNone/>
            </a:pPr>
            <a:r>
              <a:rPr lang="en-US" sz="1300">
                <a:solidFill>
                  <a:srgbClr val="3D4450"/>
                </a:solidFill>
              </a:rPr>
              <a:t>M</a:t>
            </a:r>
            <a:r>
              <a:rPr b="0" i="0" lang="en-US" sz="1300" u="none" cap="none" strike="noStrike">
                <a:solidFill>
                  <a:srgbClr val="3D4450"/>
                </a:solidFill>
                <a:latin typeface="Arial"/>
                <a:ea typeface="Arial"/>
                <a:cs typeface="Arial"/>
                <a:sym typeface="Arial"/>
              </a:rPr>
              <a:t>edida: aceleração vertical da carroceria.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355848" y="3099791"/>
            <a:ext cx="2633400" cy="1481400"/>
          </a:xfrm>
          <a:prstGeom prst="roundRect">
            <a:avLst>
              <a:gd fmla="val 864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538728" y="3264382"/>
            <a:ext cx="457200" cy="45720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8456" y="3374111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 txBox="1"/>
          <p:nvPr/>
        </p:nvSpPr>
        <p:spPr>
          <a:xfrm>
            <a:off x="4133088" y="3264382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Aderência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3570713" y="3911349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5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D4450"/>
                </a:solidFill>
                <a:latin typeface="Arial"/>
                <a:ea typeface="Arial"/>
                <a:cs typeface="Arial"/>
                <a:sym typeface="Arial"/>
              </a:rPr>
              <a:t>Medida: deformação do pneu.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63640" y="1371600"/>
            <a:ext cx="5376672" cy="4892040"/>
          </a:xfrm>
          <a:prstGeom prst="roundRect">
            <a:avLst>
              <a:gd fmla="val 2617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537960" y="1572768"/>
            <a:ext cx="1554480" cy="329184"/>
          </a:xfrm>
          <a:prstGeom prst="roundRect">
            <a:avLst>
              <a:gd fmla="val 22222" name="adj"/>
            </a:avLst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6537960" y="1572768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A SOLUÇÃO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6537960" y="2011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Suspensão semiativa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6537960" y="2537470"/>
            <a:ext cx="484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-US" sz="1600">
                <a:solidFill>
                  <a:srgbClr val="FFFFFF"/>
                </a:solidFill>
              </a:rPr>
              <a:t>Mudança da vazão do fluido da suspensão 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-US" sz="1600">
                <a:solidFill>
                  <a:srgbClr val="FFFFFF"/>
                </a:solidFill>
              </a:rPr>
              <a:t>O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rifício pequeno = firme, grande = macio. 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Um computador decide a cada 1 ms.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6560885" y="3285003"/>
            <a:ext cx="484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-2500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= c(t)·v</a:t>
            </a:r>
            <a:r>
              <a:rPr b="1" baseline="-2500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</a:t>
            </a: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600 ≤ c(t) ≤ 2400 N·s/m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" name="Google Shape;52;p4"/>
          <p:cNvGraphicFramePr/>
          <p:nvPr/>
        </p:nvGraphicFramePr>
        <p:xfrm>
          <a:off x="6537960" y="3930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{F69BE0EE-8D6B-4D4B-B71D-9E258C753AF2}</a:tableStyleId>
              </a:tblPr>
              <a:tblGrid>
                <a:gridCol w="1234450"/>
                <a:gridCol w="1005850"/>
                <a:gridCol w="1371600"/>
                <a:gridCol w="12161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Passiva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47C2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0A47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Semiativa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Ativa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Amortecimento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fixo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47C2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0A47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variável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força de atuador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Energia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nenhuma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47C2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0A47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baixa (válvula)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baixo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47C2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0A47C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médio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Google Shape;53;p4"/>
          <p:cNvSpPr txBox="1"/>
          <p:nvPr/>
        </p:nvSpPr>
        <p:spPr>
          <a:xfrm>
            <a:off x="6537960" y="5596128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D6E4FB"/>
                </a:solidFill>
                <a:latin typeface="Arial"/>
                <a:ea typeface="Arial"/>
                <a:cs typeface="Arial"/>
                <a:sym typeface="Arial"/>
              </a:rPr>
              <a:t>Vantagem: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supera a passiva sem a complexidade da ativa — bom custo-benefício [3].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[1] Wang et al. 2025, §1 · [2] Díaz-Choque et al. 2021, §4 (critérios usados no cálculo) · [3] Eduardo et al. 2020, p.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2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INTRODUÇÃO DO PROJETO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548640" y="585216"/>
            <a:ext cx="1109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Referência de mercado: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ZF CDC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50" y="2285875"/>
            <a:ext cx="3675000" cy="2940300"/>
          </a:xfrm>
          <a:prstGeom prst="roundRect">
            <a:avLst>
              <a:gd fmla="val 51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731520" y="2409842"/>
            <a:ext cx="438900" cy="43890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859" y="2515181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 txBox="1"/>
          <p:nvPr/>
        </p:nvSpPr>
        <p:spPr>
          <a:xfrm>
            <a:off x="1280160" y="2409842"/>
            <a:ext cx="228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ZF CDC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713232" y="2958482"/>
            <a:ext cx="2907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05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3D4450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D4450"/>
                </a:solidFill>
              </a:rPr>
              <a:t>V</a:t>
            </a:r>
            <a:r>
              <a:rPr b="0" i="0" lang="en-US" sz="1300" u="none" cap="none" strike="noStrike">
                <a:solidFill>
                  <a:srgbClr val="3D4450"/>
                </a:solidFill>
                <a:latin typeface="Arial"/>
                <a:ea typeface="Arial"/>
                <a:cs typeface="Arial"/>
                <a:sym typeface="Arial"/>
              </a:rPr>
              <a:t>álvula proporcional; o solenoide controla a área do orifício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3D445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3D4450"/>
                </a:solidFill>
                <a:latin typeface="Arial"/>
                <a:ea typeface="Arial"/>
                <a:cs typeface="Arial"/>
                <a:sym typeface="Arial"/>
              </a:rPr>
              <a:t>Lógica skyhook no modo conforto</a:t>
            </a:r>
            <a:endParaRPr b="0" i="0" sz="1300" u="none" cap="none" strike="noStrike">
              <a:solidFill>
                <a:srgbClr val="3D44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3D4450"/>
              </a:buClr>
              <a:buSzPts val="1300"/>
              <a:buChar char="•"/>
            </a:pPr>
            <a:r>
              <a:rPr lang="en-US" sz="1300">
                <a:solidFill>
                  <a:srgbClr val="3D4450"/>
                </a:solidFill>
              </a:rPr>
              <a:t>Controle digital</a:t>
            </a:r>
            <a:endParaRPr sz="1300">
              <a:solidFill>
                <a:srgbClr val="3D4450"/>
              </a:solidFill>
            </a:endParaRPr>
          </a:p>
          <a:p>
            <a:pPr indent="-19050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3D4450"/>
              </a:buClr>
              <a:buSzPts val="1300"/>
              <a:buChar char="•"/>
            </a:pPr>
            <a:r>
              <a:rPr lang="en-US" sz="1300">
                <a:solidFill>
                  <a:srgbClr val="3D4450"/>
                </a:solidFill>
              </a:rPr>
              <a:t>Acelerômetros na </a:t>
            </a:r>
            <a:r>
              <a:rPr lang="en-US" sz="1300">
                <a:solidFill>
                  <a:srgbClr val="3D4450"/>
                </a:solidFill>
              </a:rPr>
              <a:t>carroceria</a:t>
            </a:r>
            <a:r>
              <a:rPr lang="en-US" sz="1300">
                <a:solidFill>
                  <a:srgbClr val="3D4450"/>
                </a:solidFill>
              </a:rPr>
              <a:t> e na roda</a:t>
            </a:r>
            <a:endParaRPr sz="1300">
              <a:solidFill>
                <a:srgbClr val="3D4450"/>
              </a:solidFill>
            </a:endParaRPr>
          </a:p>
          <a:p>
            <a:pPr indent="-196850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3D4450"/>
              </a:buClr>
              <a:buSzPts val="1400"/>
              <a:buChar char="•"/>
            </a:pPr>
            <a:r>
              <a:rPr b="1" i="0" lang="en-US" u="none" cap="none" strike="noStrike">
                <a:solidFill>
                  <a:srgbClr val="3D4450"/>
                </a:solidFill>
              </a:rPr>
              <a:t>Em série: Audi A8, BMW Série 7, Porsche Cayenne, Mercedes Classe S [1]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6992981" y="222588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lang="en-US" sz="1700">
                <a:solidFill>
                  <a:srgbClr val="0A47C2"/>
                </a:solidFill>
              </a:rPr>
              <a:t>ADAPTAÇÕES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" name="Google Shape;69;p5"/>
          <p:cNvGraphicFramePr/>
          <p:nvPr/>
        </p:nvGraphicFramePr>
        <p:xfrm>
          <a:off x="4634278" y="2679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{F69BE0EE-8D6B-4D4B-B71D-9E258C753AF2}</a:tableStyleId>
              </a:tblPr>
              <a:tblGrid>
                <a:gridCol w="2331675"/>
                <a:gridCol w="2131825"/>
                <a:gridCol w="2545275"/>
              </a:tblGrid>
              <a:tr h="42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CDC real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projeto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Como foi feito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</a:tr>
              <a:tr h="1147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ZF não publica faixa de c, corrente nem tempo de resposta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= 600 a 2400 N·s/m; i = 0 a 1,5 A; τ = 15 ms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Patente Delphi [7], catálogo HydraForce [8] e artigo [9]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Carro inteiro, modos conforto e sport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1/4 de veículo, só skyhook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Foco no conflito conforto × aderência</a:t>
                      </a:r>
                      <a:r>
                        <a:rPr lang="en-US" sz="1500">
                          <a:solidFill>
                            <a:srgbClr val="3D4450"/>
                          </a:solidFill>
                        </a:rPr>
                        <a:t>.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Google Shape;70;p5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[1] Wang et al. 2025, §4.1, §5.1, Tab. 4 · [4] ZF, página do CDC · [6] patente ZF EP 1 927 783 · [7] patente Delphi US 6.390.252 · [8] HydraForce · [9] Ortiz-Espinoza 2014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3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945200" y="329100"/>
            <a:ext cx="3234000" cy="1572300"/>
          </a:xfrm>
          <a:prstGeom prst="roundRect">
            <a:avLst>
              <a:gd fmla="val 352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5200" y="329100"/>
            <a:ext cx="3144601" cy="15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/>
        </p:nvSpPr>
        <p:spPr>
          <a:xfrm>
            <a:off x="395415" y="16443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ARQUITETURA EM CASCATA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395415" y="356491"/>
            <a:ext cx="1109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Diagrama de blocos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geral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91263" y="1704938"/>
            <a:ext cx="7896000" cy="4123800"/>
          </a:xfrm>
          <a:prstGeom prst="roundRect">
            <a:avLst>
              <a:gd fmla="val 352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8398548" y="2017368"/>
            <a:ext cx="350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5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VARIÁVEIS DO SISTEMA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6"/>
          <p:cNvGraphicFramePr/>
          <p:nvPr/>
        </p:nvGraphicFramePr>
        <p:xfrm>
          <a:off x="8398548" y="2337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{F69BE0EE-8D6B-4D4B-B71D-9E258C753AF2}</a:tableStyleId>
              </a:tblPr>
              <a:tblGrid>
                <a:gridCol w="1188725"/>
                <a:gridCol w="2313425"/>
              </a:tblGrid>
              <a:tr h="84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41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1114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Variável controlada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aseline="-25000"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(t) = ẍ</a:t>
                      </a:r>
                      <a:r>
                        <a:rPr baseline="-25000"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[m/s²] — aceleração vertical da carroceria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B"/>
                    </a:solidFill>
                  </a:tcPr>
                </a:tc>
              </a:tr>
              <a:tr h="10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41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1114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Variável </a:t>
                      </a:r>
                      <a:r>
                        <a:rPr b="1" lang="en-US" sz="1250">
                          <a:solidFill>
                            <a:srgbClr val="111418"/>
                          </a:solidFill>
                        </a:rPr>
                        <a:t>de controle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c(t) [N·s/m] — coeficiente de amortecimento, comandado pela corrente i(t)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B"/>
                    </a:solidFill>
                  </a:tcPr>
                </a:tc>
              </a:tr>
              <a:tr h="71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41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1114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Entrada (perturbação)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w(t) [m] — perfil da pista; entra pelo pneu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F"/>
                    </a:solidFill>
                  </a:tcPr>
                </a:tc>
              </a:tr>
              <a:tr h="60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41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11141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Referência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2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0 </a:t>
                      </a:r>
                      <a:endParaRPr sz="12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Google Shape;84;p6"/>
          <p:cNvSpPr txBox="1"/>
          <p:nvPr/>
        </p:nvSpPr>
        <p:spPr>
          <a:xfrm>
            <a:off x="550165" y="6536977"/>
            <a:ext cx="9966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[1] Wang et al. 2025, §1 (p. 2) · Relatório S1, seções 2.3 e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4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338" y="2066125"/>
            <a:ext cx="7260348" cy="363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MALHA EXTERNA</a:t>
            </a:r>
            <a:r>
              <a:rPr b="1" lang="en-US" sz="1200">
                <a:solidFill>
                  <a:srgbClr val="0A47C2"/>
                </a:solidFill>
              </a:rPr>
              <a:t>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A/D e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skyhook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48650" y="1225200"/>
            <a:ext cx="3246000" cy="5038500"/>
          </a:xfrm>
          <a:prstGeom prst="roundRect">
            <a:avLst>
              <a:gd fmla="val 394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777240" y="15087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77240" y="19659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Por que uma parte digital?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777240" y="2587752"/>
            <a:ext cx="402336" cy="402336"/>
          </a:xfrm>
          <a:prstGeom prst="ellipse">
            <a:avLst/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801" y="2684313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/>
          <p:nvPr/>
        </p:nvSpPr>
        <p:spPr>
          <a:xfrm>
            <a:off x="1325875" y="254202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150"/>
              <a:buFont typeface="Arial"/>
              <a:buNone/>
            </a:pPr>
            <a:r>
              <a:rPr b="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 lei roda num microcontrolador, como a ECU do CDC.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777240" y="3502152"/>
            <a:ext cx="402336" cy="402336"/>
          </a:xfrm>
          <a:prstGeom prst="ellipse">
            <a:avLst/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801" y="3598713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/>
          <p:nvPr/>
        </p:nvSpPr>
        <p:spPr>
          <a:xfrm>
            <a:off x="1325875" y="3552477"/>
            <a:ext cx="2286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150"/>
              <a:buFont typeface="Arial"/>
              <a:buNone/>
            </a:pPr>
            <a:r>
              <a:rPr b="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O A/D lê os sensores a cada 1 ms: bem mais rápido que a </a:t>
            </a:r>
            <a:r>
              <a:rPr lang="en-US" sz="1300">
                <a:solidFill>
                  <a:srgbClr val="111418"/>
                </a:solidFill>
              </a:rPr>
              <a:t>carroceria e</a:t>
            </a:r>
            <a:r>
              <a:rPr b="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 a corrente</a:t>
            </a:r>
            <a:r>
              <a:rPr lang="en-US" sz="1300">
                <a:solidFill>
                  <a:srgbClr val="111418"/>
                </a:solidFill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77240" y="4608552"/>
            <a:ext cx="402300" cy="402300"/>
          </a:xfrm>
          <a:prstGeom prst="ellipse">
            <a:avLst/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826" y="4705113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 txBox="1"/>
          <p:nvPr/>
        </p:nvSpPr>
        <p:spPr>
          <a:xfrm>
            <a:off x="1280167" y="4608557"/>
            <a:ext cx="2286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150"/>
              <a:buFont typeface="Arial"/>
              <a:buNone/>
            </a:pPr>
            <a:r>
              <a:rPr b="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Ajustar c</a:t>
            </a:r>
            <a:r>
              <a:rPr b="0" baseline="-2500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sky</a:t>
            </a:r>
            <a:r>
              <a:rPr b="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 ou trocar a lei é só trocar o software.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977650" y="1225300"/>
            <a:ext cx="4480500" cy="5038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4206240" y="1392435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4869115" y="1415223"/>
            <a:ext cx="3383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O que é o skyhook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fig_skyhook.png" id="109" name="Google Shape;10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83325" y="1782550"/>
            <a:ext cx="4069075" cy="257448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4244840" y="4444932"/>
            <a:ext cx="1234500" cy="310800"/>
          </a:xfrm>
          <a:prstGeom prst="roundRect">
            <a:avLst>
              <a:gd fmla="val 23529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4244815" y="4444982"/>
            <a:ext cx="123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AJUDA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5532133" y="4445007"/>
            <a:ext cx="278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 frear a carroceria → endurece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206240" y="4914268"/>
            <a:ext cx="1234500" cy="310800"/>
          </a:xfrm>
          <a:prstGeom prst="roundRect">
            <a:avLst>
              <a:gd fmla="val 23529" name="adj"/>
            </a:avLst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4206240" y="4914268"/>
            <a:ext cx="123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ATRAPALHA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5532120" y="4914318"/>
            <a:ext cx="278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→ fica o mais macio possível (600)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eq_sky.png" id="116" name="Google Shape;11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83315" y="5536070"/>
            <a:ext cx="4069080" cy="39993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8641075" y="1225150"/>
            <a:ext cx="2999100" cy="5038500"/>
          </a:xfrm>
          <a:prstGeom prst="roundRect">
            <a:avLst>
              <a:gd fmla="val 426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8869680" y="15087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8869680" y="1965960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De c</a:t>
            </a:r>
            <a:r>
              <a:rPr b="1" lang="en-US" sz="1600">
                <a:solidFill>
                  <a:srgbClr val="111418"/>
                </a:solidFill>
              </a:rPr>
              <a:t>oeficiente amortecimento -&gt; </a:t>
            </a:r>
            <a:r>
              <a:rPr b="1" i="0" lang="en-US" sz="1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corrente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8869680" y="2450592"/>
            <a:ext cx="2606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5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eq_conv.png" id="121" name="Google Shape;12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79994" y="2990145"/>
            <a:ext cx="1521253" cy="6217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" name="Google Shape;122;p7"/>
          <p:cNvGraphicFramePr/>
          <p:nvPr/>
        </p:nvGraphicFramePr>
        <p:xfrm>
          <a:off x="8924505" y="3954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{F69BE0EE-8D6B-4D4B-B71D-9E258C753AF2}</a:tableStyleId>
              </a:tblPr>
              <a:tblGrid>
                <a:gridCol w="1463050"/>
                <a:gridCol w="10790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="1" lang="en-US" sz="1300">
                          <a:solidFill>
                            <a:srgbClr val="FFFFFF"/>
                          </a:solidFill>
                        </a:rPr>
                        <a:t>oeficiente</a:t>
                      </a:r>
                      <a:r>
                        <a:rPr b="1" lang="en-US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pedido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b="1" baseline="-25000" lang="en-US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 (macio)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A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1500 (médio)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0,75 A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2400 (firme)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 A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7"/>
          <p:cNvSpPr txBox="1"/>
          <p:nvPr/>
        </p:nvSpPr>
        <p:spPr>
          <a:xfrm>
            <a:off x="8869680" y="5468112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 vira a referência da malha interna: o PI faz a corrente real seguir esse valor.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[1] Wang et al. 2025, eq. 3 e §5.1 · [2] Díaz-Choque 2021, Tab. 3 · [4] ZF (CDC) · [13] Karnopp et al. 1974 · [7] Delphi · [8] HydraForce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5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MALHA INTERNA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Compensador digital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PI e D/A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78" y="1552225"/>
            <a:ext cx="3108900" cy="1051500"/>
          </a:xfrm>
          <a:prstGeom prst="roundRect">
            <a:avLst>
              <a:gd fmla="val 1217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777278" y="1780825"/>
            <a:ext cx="594300" cy="59430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77278" y="1780825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1554517" y="1735105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Proporcional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1554517" y="2082577"/>
            <a:ext cx="196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Deixa a resposta mais rápida.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840518" y="1552225"/>
            <a:ext cx="3108900" cy="1051500"/>
          </a:xfrm>
          <a:prstGeom prst="roundRect">
            <a:avLst>
              <a:gd fmla="val 1217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069118" y="1780825"/>
            <a:ext cx="594300" cy="59430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4069118" y="1780825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4846358" y="1735105"/>
            <a:ext cx="192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Integral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4846358" y="2082577"/>
            <a:ext cx="196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Zera o erro em regime permanente.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50" y="2837038"/>
            <a:ext cx="6400800" cy="3426600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777247" y="2911265"/>
            <a:ext cx="585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FUNÇÃO DE TRANSFERÊNCIA CONTÍNUA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eq_pi_s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5" y="3140976"/>
            <a:ext cx="2338369" cy="77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777260" y="4564991"/>
            <a:ext cx="585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DISCRETIZAÇÃO POR TUSTIN (T = 1 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78040" y="13716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VALORES ADOTADOS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8"/>
          <p:cNvGraphicFramePr/>
          <p:nvPr/>
        </p:nvGraphicFramePr>
        <p:xfrm>
          <a:off x="71780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{F69BE0EE-8D6B-4D4B-B71D-9E258C753AF2}</a:tableStyleId>
              </a:tblPr>
              <a:tblGrid>
                <a:gridCol w="914400"/>
                <a:gridCol w="1143000"/>
                <a:gridCol w="2404875"/>
              </a:tblGrid>
              <a:tr h="85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Parâmetro</a:t>
                      </a:r>
                      <a:endParaRPr sz="10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 sz="10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 onde vem</a:t>
                      </a:r>
                      <a:endParaRPr sz="10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</a:tr>
              <a:tr h="11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aseline="-25000"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V/A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L·ω</a:t>
                      </a:r>
                      <a:r>
                        <a:rPr baseline="-25000"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com ω</a:t>
                      </a:r>
                      <a:r>
                        <a:rPr baseline="-25000"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500 rad/s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7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aseline="-25000"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2500 V/(A·s)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aseline="-25000"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·R/L: o zero do PI cancela o polo da bobina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ms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10–30× a banda da malha de corrente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8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Ogata, Discrete-Time Control Systems (Tustin, ZOH, Jury) · Relatório S1, seção 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6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49" y="4814162"/>
            <a:ext cx="3669609" cy="9700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6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FT DA BOBINA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Bobina: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tensão vira corrente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48640" y="1325880"/>
            <a:ext cx="11094415" cy="1874520"/>
          </a:xfrm>
          <a:prstGeom prst="roundRect">
            <a:avLst>
              <a:gd fmla="val 682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731520" y="149047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r>
              <a:rPr b="1" i="0" lang="en-US" sz="1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[k]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9"/>
          <p:cNvCxnSpPr/>
          <p:nvPr/>
        </p:nvCxnSpPr>
        <p:spPr>
          <a:xfrm>
            <a:off x="731520" y="1874520"/>
            <a:ext cx="640080" cy="0"/>
          </a:xfrm>
          <a:prstGeom prst="straightConnector1">
            <a:avLst/>
          </a:prstGeom>
          <a:noFill/>
          <a:ln cap="flat" cmpd="sng" w="22225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9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137160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9"/>
          <p:cNvCxnSpPr/>
          <p:nvPr/>
        </p:nvCxnSpPr>
        <p:spPr>
          <a:xfrm>
            <a:off x="1828800" y="1874520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9"/>
          <p:cNvSpPr/>
          <p:nvPr/>
        </p:nvSpPr>
        <p:spPr>
          <a:xfrm>
            <a:off x="2286000" y="1591056"/>
            <a:ext cx="1737360" cy="566928"/>
          </a:xfrm>
          <a:prstGeom prst="roundRect">
            <a:avLst>
              <a:gd fmla="val 12903" name="adj"/>
            </a:avLst>
          </a:prstGeom>
          <a:solidFill>
            <a:srgbClr val="0A47C2"/>
          </a:solidFill>
          <a:ln cap="flat" cmpd="sng" w="15875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2331720" y="1591056"/>
            <a:ext cx="1645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 de corrente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4023360" y="1874520"/>
            <a:ext cx="548640" cy="0"/>
          </a:xfrm>
          <a:prstGeom prst="straightConnector1">
            <a:avLst/>
          </a:prstGeom>
          <a:noFill/>
          <a:ln cap="flat" cmpd="sng" w="22225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p9"/>
          <p:cNvSpPr txBox="1"/>
          <p:nvPr/>
        </p:nvSpPr>
        <p:spPr>
          <a:xfrm>
            <a:off x="4023360" y="1527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u[k]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572000" y="1591056"/>
            <a:ext cx="1371600" cy="566928"/>
          </a:xfrm>
          <a:prstGeom prst="roundRect">
            <a:avLst>
              <a:gd fmla="val 12903" name="adj"/>
            </a:avLst>
          </a:prstGeom>
          <a:solidFill>
            <a:srgbClr val="D6E4FB"/>
          </a:solidFill>
          <a:ln cap="flat" cmpd="sng" w="15875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4617720" y="1591056"/>
            <a:ext cx="1280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D/A (ZOH)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9"/>
          <p:cNvCxnSpPr/>
          <p:nvPr/>
        </p:nvCxnSpPr>
        <p:spPr>
          <a:xfrm>
            <a:off x="5943600" y="1874520"/>
            <a:ext cx="548640" cy="0"/>
          </a:xfrm>
          <a:prstGeom prst="straightConnector1">
            <a:avLst/>
          </a:prstGeom>
          <a:noFill/>
          <a:ln cap="flat" cmpd="sng" w="22225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9"/>
          <p:cNvSpPr txBox="1"/>
          <p:nvPr/>
        </p:nvSpPr>
        <p:spPr>
          <a:xfrm>
            <a:off x="5943600" y="1527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V(t)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92240" y="1591056"/>
            <a:ext cx="201168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3175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6537960" y="1591056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Bobina  G</a:t>
            </a:r>
            <a:r>
              <a:rPr b="1" baseline="-25000" i="0" lang="en-US" sz="13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i="0" lang="en-US" sz="13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(s)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9"/>
          <p:cNvCxnSpPr/>
          <p:nvPr/>
        </p:nvCxnSpPr>
        <p:spPr>
          <a:xfrm>
            <a:off x="8503920" y="1874520"/>
            <a:ext cx="1325880" cy="0"/>
          </a:xfrm>
          <a:prstGeom prst="straightConnector1">
            <a:avLst/>
          </a:prstGeom>
          <a:noFill/>
          <a:ln cap="flat" cmpd="sng" w="22225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9"/>
          <p:cNvSpPr txBox="1"/>
          <p:nvPr/>
        </p:nvSpPr>
        <p:spPr>
          <a:xfrm>
            <a:off x="8549640" y="1527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i(t)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9829800" y="1591056"/>
            <a:ext cx="1554480" cy="566928"/>
          </a:xfrm>
          <a:prstGeom prst="roundRect">
            <a:avLst>
              <a:gd fmla="val 12903" name="adj"/>
            </a:avLst>
          </a:prstGeom>
          <a:solidFill>
            <a:srgbClr val="F2F4F7"/>
          </a:solidFill>
          <a:ln cap="flat" cmpd="sng" w="15875">
            <a:solidFill>
              <a:srgbClr val="C9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9875520" y="159105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Válvula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9098280" y="1828800"/>
            <a:ext cx="91440" cy="9144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9"/>
          <p:cNvCxnSpPr/>
          <p:nvPr/>
        </p:nvCxnSpPr>
        <p:spPr>
          <a:xfrm>
            <a:off x="9144000" y="1874520"/>
            <a:ext cx="0" cy="941832"/>
          </a:xfrm>
          <a:prstGeom prst="straightConnector1">
            <a:avLst/>
          </a:prstGeom>
          <a:noFill/>
          <a:ln cap="flat" cmpd="sng" w="254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9"/>
          <p:cNvCxnSpPr/>
          <p:nvPr/>
        </p:nvCxnSpPr>
        <p:spPr>
          <a:xfrm rot="10800000">
            <a:off x="5623560" y="2816352"/>
            <a:ext cx="3520440" cy="0"/>
          </a:xfrm>
          <a:prstGeom prst="straightConnector1">
            <a:avLst/>
          </a:prstGeom>
          <a:noFill/>
          <a:ln cap="flat" cmpd="sng" w="254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9"/>
          <p:cNvSpPr/>
          <p:nvPr/>
        </p:nvSpPr>
        <p:spPr>
          <a:xfrm>
            <a:off x="4617720" y="2615184"/>
            <a:ext cx="1005840" cy="402336"/>
          </a:xfrm>
          <a:prstGeom prst="roundRect">
            <a:avLst>
              <a:gd fmla="val 18182" name="adj"/>
            </a:avLst>
          </a:prstGeom>
          <a:solidFill>
            <a:srgbClr val="D6E4FB"/>
          </a:solidFill>
          <a:ln cap="flat" cmpd="sng" w="15875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4663440" y="2615184"/>
            <a:ext cx="914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A/D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9"/>
          <p:cNvCxnSpPr/>
          <p:nvPr/>
        </p:nvCxnSpPr>
        <p:spPr>
          <a:xfrm rot="10800000">
            <a:off x="1600200" y="2816352"/>
            <a:ext cx="3017520" cy="0"/>
          </a:xfrm>
          <a:prstGeom prst="straightConnector1">
            <a:avLst/>
          </a:prstGeom>
          <a:noFill/>
          <a:ln cap="flat" cmpd="sng" w="254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9"/>
          <p:cNvCxnSpPr/>
          <p:nvPr/>
        </p:nvCxnSpPr>
        <p:spPr>
          <a:xfrm rot="10800000">
            <a:off x="1600200" y="2103120"/>
            <a:ext cx="0" cy="713232"/>
          </a:xfrm>
          <a:prstGeom prst="straightConnector1">
            <a:avLst/>
          </a:prstGeom>
          <a:noFill/>
          <a:ln cap="flat" cmpd="sng" w="25400">
            <a:solidFill>
              <a:srgbClr val="0A47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9"/>
          <p:cNvSpPr txBox="1"/>
          <p:nvPr/>
        </p:nvSpPr>
        <p:spPr>
          <a:xfrm>
            <a:off x="1298448" y="20756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2743200" y="25146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i[k]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852160" y="2798064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a corrente medida realimenta o 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48650" y="3787400"/>
            <a:ext cx="6035100" cy="16503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1828810" y="4037140"/>
            <a:ext cx="557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LEI DE KIRCHHOFF NO SOLENOIDE (CIRCUITO RL)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eq_gb_s.png"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4485" y="4508003"/>
            <a:ext cx="2555096" cy="6400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2" name="Google Shape;192;p9"/>
          <p:cNvGraphicFramePr/>
          <p:nvPr/>
        </p:nvGraphicFramePr>
        <p:xfrm>
          <a:off x="6812280" y="3308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{F69BE0EE-8D6B-4D4B-B71D-9E258C753AF2}</a:tableStyleId>
              </a:tblPr>
              <a:tblGrid>
                <a:gridCol w="914400"/>
                <a:gridCol w="777250"/>
                <a:gridCol w="502925"/>
                <a:gridCol w="2633475"/>
              </a:tblGrid>
              <a:tr h="6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Parâmetro</a:t>
                      </a:r>
                      <a:endParaRPr sz="10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 sz="10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Orig.</a:t>
                      </a:r>
                      <a:endParaRPr sz="10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Fonte / justificativa</a:t>
                      </a:r>
                      <a:endParaRPr sz="10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</a:tr>
              <a:tr h="57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r>
                        <a:rPr baseline="-25000"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V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bobina de 12 V, HydraForce [8]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 Ω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HydraForce série 70, a 20 °C [8]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0,02 H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de trabalho: o catálogo não informa</a:t>
                      </a:r>
                      <a:endParaRPr sz="135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9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[8] HydraForce, Proportional Coil Data (série 70) · [15] TLX Technologies, PWM Solenoid Theory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7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FT DA VÁLVULA PROPORCIONAL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Válvula: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corrente vira amortecimento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48640" y="1371600"/>
            <a:ext cx="1572768" cy="384048"/>
          </a:xfrm>
          <a:prstGeom prst="roundRect">
            <a:avLst>
              <a:gd fmla="val 19048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548640" y="137160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corrente 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0"/>
          <p:cNvCxnSpPr/>
          <p:nvPr/>
        </p:nvCxnSpPr>
        <p:spPr>
          <a:xfrm>
            <a:off x="2157984" y="1563624"/>
            <a:ext cx="256032" cy="0"/>
          </a:xfrm>
          <a:prstGeom prst="straightConnector1">
            <a:avLst/>
          </a:prstGeom>
          <a:noFill/>
          <a:ln cap="flat" cmpd="sng" w="22225">
            <a:solidFill>
              <a:srgbClr val="0A47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10"/>
          <p:cNvSpPr/>
          <p:nvPr/>
        </p:nvSpPr>
        <p:spPr>
          <a:xfrm>
            <a:off x="2450592" y="1371600"/>
            <a:ext cx="1572768" cy="384048"/>
          </a:xfrm>
          <a:prstGeom prst="roundRect">
            <a:avLst>
              <a:gd fmla="val 19048" name="adj"/>
            </a:avLst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 txBox="1"/>
          <p:nvPr/>
        </p:nvSpPr>
        <p:spPr>
          <a:xfrm>
            <a:off x="2450592" y="137160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força magnética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0"/>
          <p:cNvCxnSpPr/>
          <p:nvPr/>
        </p:nvCxnSpPr>
        <p:spPr>
          <a:xfrm>
            <a:off x="4059936" y="1563624"/>
            <a:ext cx="256032" cy="0"/>
          </a:xfrm>
          <a:prstGeom prst="straightConnector1">
            <a:avLst/>
          </a:prstGeom>
          <a:noFill/>
          <a:ln cap="flat" cmpd="sng" w="22225">
            <a:solidFill>
              <a:srgbClr val="0A47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10"/>
          <p:cNvSpPr/>
          <p:nvPr/>
        </p:nvSpPr>
        <p:spPr>
          <a:xfrm>
            <a:off x="4352544" y="1371600"/>
            <a:ext cx="1572768" cy="384048"/>
          </a:xfrm>
          <a:prstGeom prst="roundRect">
            <a:avLst>
              <a:gd fmla="val 19048" name="adj"/>
            </a:avLst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4352544" y="137160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área do orifício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0"/>
          <p:cNvCxnSpPr/>
          <p:nvPr/>
        </p:nvCxnSpPr>
        <p:spPr>
          <a:xfrm>
            <a:off x="5961888" y="1563624"/>
            <a:ext cx="256032" cy="0"/>
          </a:xfrm>
          <a:prstGeom prst="straightConnector1">
            <a:avLst/>
          </a:prstGeom>
          <a:noFill/>
          <a:ln cap="flat" cmpd="sng" w="22225">
            <a:solidFill>
              <a:srgbClr val="0A47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10"/>
          <p:cNvSpPr/>
          <p:nvPr/>
        </p:nvSpPr>
        <p:spPr>
          <a:xfrm>
            <a:off x="6254496" y="1371600"/>
            <a:ext cx="1572768" cy="384048"/>
          </a:xfrm>
          <a:prstGeom prst="roundRect">
            <a:avLst>
              <a:gd fmla="val 19048" name="adj"/>
            </a:avLst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6254496" y="137160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vazão de óleo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0"/>
          <p:cNvCxnSpPr/>
          <p:nvPr/>
        </p:nvCxnSpPr>
        <p:spPr>
          <a:xfrm>
            <a:off x="7863840" y="1563624"/>
            <a:ext cx="256032" cy="0"/>
          </a:xfrm>
          <a:prstGeom prst="straightConnector1">
            <a:avLst/>
          </a:prstGeom>
          <a:noFill/>
          <a:ln cap="flat" cmpd="sng" w="22225">
            <a:solidFill>
              <a:srgbClr val="0A47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0"/>
          <p:cNvSpPr/>
          <p:nvPr/>
        </p:nvSpPr>
        <p:spPr>
          <a:xfrm>
            <a:off x="8156448" y="1371600"/>
            <a:ext cx="1572768" cy="384048"/>
          </a:xfrm>
          <a:prstGeom prst="roundRect">
            <a:avLst>
              <a:gd fmla="val 19048" name="adj"/>
            </a:avLst>
          </a:prstGeom>
          <a:solidFill>
            <a:srgbClr val="D6E4FB"/>
          </a:solidFill>
          <a:ln cap="flat" cmpd="sng" w="12700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8156448" y="137160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diferença de pressão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0"/>
          <p:cNvCxnSpPr/>
          <p:nvPr/>
        </p:nvCxnSpPr>
        <p:spPr>
          <a:xfrm>
            <a:off x="9765792" y="1563624"/>
            <a:ext cx="256032" cy="0"/>
          </a:xfrm>
          <a:prstGeom prst="straightConnector1">
            <a:avLst/>
          </a:prstGeom>
          <a:noFill/>
          <a:ln cap="flat" cmpd="sng" w="22225">
            <a:solidFill>
              <a:srgbClr val="0A47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" name="Google Shape;217;p10"/>
          <p:cNvSpPr/>
          <p:nvPr/>
        </p:nvSpPr>
        <p:spPr>
          <a:xfrm>
            <a:off x="10058400" y="1371600"/>
            <a:ext cx="1572768" cy="384048"/>
          </a:xfrm>
          <a:prstGeom prst="roundRect">
            <a:avLst>
              <a:gd fmla="val 19048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10058400" y="1371600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força de amortecimento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48650" y="2595550"/>
            <a:ext cx="5486400" cy="2775900"/>
          </a:xfrm>
          <a:prstGeom prst="roundRect">
            <a:avLst>
              <a:gd fmla="val 636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2122905" y="2946175"/>
            <a:ext cx="2337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DINÂMICA DE 1ª ORDEM, GANHO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eq_val.png" id="221" name="Google Shape;2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371" y="3641488"/>
            <a:ext cx="4777025" cy="92835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10"/>
          <p:cNvGraphicFramePr/>
          <p:nvPr/>
        </p:nvGraphicFramePr>
        <p:xfrm>
          <a:off x="6272777" y="2211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{F69BE0EE-8D6B-4D4B-B71D-9E258C753AF2}</a:tableStyleId>
              </a:tblPr>
              <a:tblGrid>
                <a:gridCol w="822950"/>
                <a:gridCol w="1188725"/>
                <a:gridCol w="502925"/>
                <a:gridCol w="286207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Parâmetro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Fonte / justificativa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mín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 N·s/m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patente Delphi: macio “approximately 600 N-s/m” [7]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máx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2400 N·s/m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L/H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razão 4, dentro da faixa de 3 a 6 [7]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– 1,5 A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corrente máxima da HydraForce série 70 [8]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τ</a:t>
                      </a:r>
                      <a:r>
                        <a:rPr baseline="-25000"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ms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amortecedor comercial [9]; sensibilidade 5,3 ms [2]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10"/>
          <p:cNvSpPr/>
          <p:nvPr/>
        </p:nvSpPr>
        <p:spPr>
          <a:xfrm>
            <a:off x="6263640" y="4343400"/>
            <a:ext cx="5376672" cy="1920240"/>
          </a:xfrm>
          <a:prstGeom prst="roundRect">
            <a:avLst>
              <a:gd fmla="val 6667" name="adj"/>
            </a:avLst>
          </a:prstGeom>
          <a:solidFill>
            <a:srgbClr val="FBE3DF"/>
          </a:solidFill>
          <a:ln cap="flat" cmpd="sng" w="12700">
            <a:solidFill>
              <a:srgbClr val="FBE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6446520" y="443484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64533"/>
                </a:solidFill>
                <a:latin typeface="Arial"/>
                <a:ea typeface="Arial"/>
                <a:cs typeface="Arial"/>
                <a:sym typeface="Arial"/>
              </a:rPr>
              <a:t>Por que não uma válvula ON/OFF?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6446520" y="4828032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0025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não-linearidade binária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111418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 troca brusca do fluxo de óleo provoca oscilações transitórias indesejadas [1, §4.1].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0025" lvl="0" marL="177800" marR="0" rtl="0" algn="l">
              <a:spcBef>
                <a:spcPts val="300"/>
              </a:spcBef>
              <a:spcAft>
                <a:spcPts val="0"/>
              </a:spcAft>
              <a:buClr>
                <a:srgbClr val="111418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O chaveamento ON-OFF provoca </a:t>
            </a:r>
            <a:r>
              <a:rPr b="1" i="0" lang="en-US" u="none" cap="none" strike="noStrike">
                <a:solidFill>
                  <a:srgbClr val="111418"/>
                </a:solidFill>
              </a:rPr>
              <a:t>chattering</a:t>
            </a:r>
            <a:r>
              <a:rPr b="0" i="0" lang="en-US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 sob excitação de alta frequência [1, §2.2].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[1] Wang et al. 2025, §2.2, §4.1 · [2] Díaz-Choque 2021, §3 · [7] patente Delphi US 6.390.252 B1 · [8] HydraForce · [9] Ortiz-Espinoza 2014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8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/>
          <p:nvPr/>
        </p:nvSpPr>
        <p:spPr>
          <a:xfrm>
            <a:off x="7260625" y="1325875"/>
            <a:ext cx="4660500" cy="4822500"/>
          </a:xfrm>
          <a:prstGeom prst="roundRect">
            <a:avLst>
              <a:gd fmla="val 636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PLANTA · QUARTER-CAR DE 2 GDL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Suspensão do veículo </a:t>
            </a:r>
            <a:r>
              <a:rPr b="1" i="0" lang="en-US" sz="34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e distúrbio da estrada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48640" y="1325880"/>
            <a:ext cx="2880360" cy="3611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viniciusblanco/Documentos/Controle Digital/Figuras_Relatorio_S1/fig_quartercar.png" id="237" name="Google Shape;2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037" y="1417320"/>
            <a:ext cx="2683565" cy="3429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11"/>
          <p:cNvGraphicFramePr/>
          <p:nvPr/>
        </p:nvGraphicFramePr>
        <p:xfrm>
          <a:off x="361188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{F69BE0EE-8D6B-4D4B-B71D-9E258C753AF2}</a:tableStyleId>
              </a:tblPr>
              <a:tblGrid>
                <a:gridCol w="594350"/>
                <a:gridCol w="1051550"/>
                <a:gridCol w="1783075"/>
              </a:tblGrid>
              <a:tr h="43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Símb.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Origem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47C2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aseline="-25000"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250 kg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H: 1/4 de carro compacto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aseline="-25000"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 kg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L: [2], Tab. 1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5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aseline="-25000"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16 000 N/m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H: carroceria a 1,2 Hz (Gillespie: ~1 Hz) [3]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aseline="-25000"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200 000 N/m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L: Jazar, via [3]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8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baseline="-25000"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1500 N·s/m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445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3D44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ζ = 0,375, dentro de 0,2–0,4 [3]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1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11"/>
          <p:cNvSpPr/>
          <p:nvPr/>
        </p:nvSpPr>
        <p:spPr>
          <a:xfrm>
            <a:off x="548647" y="5153611"/>
            <a:ext cx="6492300" cy="994800"/>
          </a:xfrm>
          <a:prstGeom prst="roundRect">
            <a:avLst>
              <a:gd fmla="val 1076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1000/-home-viniciusblanco-Documentos-Controle-Digital/183c8177-8a3a-4885-a91f-3ab063296c40/scratchpad/build/figs/eq_delta.png" id="240" name="Google Shape;2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604" y="5652142"/>
            <a:ext cx="6126481" cy="26074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7888825" y="1484892"/>
            <a:ext cx="34041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FUNÇÃO DE TRANSFERÊNCIA DA SUSPENSÃO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[2] Díaz-Choque 2021, Tab. 1 e eqs. 29–30 · [3] Eduardo 2020 (Gillespie 1992; Jazar 2014)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9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1750900" y="5289125"/>
            <a:ext cx="47112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1" lang="en-US" sz="1350">
                <a:solidFill>
                  <a:srgbClr val="6B7280"/>
                </a:solidFill>
              </a:rPr>
              <a:t>Dinâmica da Suspensão (Segunda Lei de Newton)  [3]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3270" y="1901603"/>
            <a:ext cx="3975200" cy="4901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4566" y="4387724"/>
            <a:ext cx="4112634" cy="13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19862" y="2445075"/>
            <a:ext cx="4142025" cy="1889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SENSORES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Um acelerômetro na carroceria, </a:t>
            </a:r>
            <a:r>
              <a:rPr b="1" i="0" lang="en-US" sz="34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outro na roda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94575" y="1365450"/>
            <a:ext cx="4617600" cy="456750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3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39422" rotWithShape="0" algn="bl" dir="5400000" dist="27884">
              <a:srgbClr val="000000">
                <a:alpha val="12157"/>
              </a:srgbClr>
            </a:outerShdw>
          </a:effectLst>
        </p:spPr>
        <p:txBody>
          <a:bodyPr anchorCtr="0" anchor="ctr" bIns="100375" lIns="100375" spcFirstLastPara="1" rIns="100375" wrap="square" tIns="10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7"/>
          </a:p>
        </p:txBody>
      </p:sp>
      <p:pic>
        <p:nvPicPr>
          <p:cNvPr descr="/tmp/claude-1000/-home-viniciusblanco-Documentos-Controle-Digital/183c8177-8a3a-4885-a91f-3ab063296c40/scratchpad/build/figs/fig_sensores.png" id="256" name="Google Shape;2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215" y="1465834"/>
            <a:ext cx="3626378" cy="436669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5736120" y="194839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 txBox="1"/>
          <p:nvPr/>
        </p:nvSpPr>
        <p:spPr>
          <a:xfrm>
            <a:off x="6421920" y="1875238"/>
            <a:ext cx="5120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Carroceria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6421920" y="2314150"/>
            <a:ext cx="512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aceleração a</a:t>
            </a:r>
            <a:r>
              <a:rPr b="0" baseline="-25000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5736120" y="3228549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E07A10"/>
          </a:solidFill>
          <a:ln cap="flat" cmpd="sng" w="12700">
            <a:solidFill>
              <a:srgbClr val="E07A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 txBox="1"/>
          <p:nvPr/>
        </p:nvSpPr>
        <p:spPr>
          <a:xfrm>
            <a:off x="6421920" y="3155398"/>
            <a:ext cx="5120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1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E07A10"/>
                </a:solidFill>
                <a:latin typeface="Arial"/>
                <a:ea typeface="Arial"/>
                <a:cs typeface="Arial"/>
                <a:sym typeface="Arial"/>
              </a:rPr>
              <a:t>Roda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6421920" y="3594310"/>
            <a:ext cx="512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aceleração a</a:t>
            </a:r>
            <a:r>
              <a:rPr b="0" baseline="-25000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736120" y="450871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11418"/>
          </a:solidFill>
          <a:ln cap="flat" cmpd="sng" w="1270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6421920" y="4435558"/>
            <a:ext cx="5120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Estimamos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6421920" y="4874470"/>
            <a:ext cx="512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velocidade da carroceria e velocidade relativa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[1] Wang et al. 2025, Tab. 2 (sensores típicos) · [4] ZF, página do CDC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10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ANÁLISE LINEAR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Diagrama de blocos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reduzido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48640" y="1371600"/>
            <a:ext cx="11094415" cy="4343400"/>
          </a:xfrm>
          <a:prstGeom prst="roundRect">
            <a:avLst>
              <a:gd fmla="val 294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 txBox="1"/>
          <p:nvPr/>
        </p:nvSpPr>
        <p:spPr>
          <a:xfrm>
            <a:off x="777240" y="283464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r =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3"/>
          <p:cNvCxnSpPr/>
          <p:nvPr/>
        </p:nvCxnSpPr>
        <p:spPr>
          <a:xfrm>
            <a:off x="777240" y="324612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13"/>
          <p:cNvSpPr/>
          <p:nvPr/>
        </p:nvSpPr>
        <p:spPr>
          <a:xfrm>
            <a:off x="1417320" y="2971800"/>
            <a:ext cx="548640" cy="54864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1417320" y="2971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3"/>
          <p:cNvCxnSpPr/>
          <p:nvPr/>
        </p:nvCxnSpPr>
        <p:spPr>
          <a:xfrm>
            <a:off x="1965960" y="324612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" name="Google Shape;281;p13"/>
          <p:cNvSpPr/>
          <p:nvPr/>
        </p:nvSpPr>
        <p:spPr>
          <a:xfrm>
            <a:off x="2377440" y="2651760"/>
            <a:ext cx="2377440" cy="1188720"/>
          </a:xfrm>
          <a:prstGeom prst="roundRect">
            <a:avLst>
              <a:gd fmla="val 6154" name="adj"/>
            </a:avLst>
          </a:prstGeom>
          <a:solidFill>
            <a:srgbClr val="0A47C2"/>
          </a:solidFill>
          <a:ln cap="flat" cmpd="sng" w="15875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2423160" y="265176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2468880" y="278892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Skyhook linearizado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2468880" y="3218688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1" baseline="-2500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sky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(z)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13"/>
          <p:cNvCxnSpPr/>
          <p:nvPr/>
        </p:nvCxnSpPr>
        <p:spPr>
          <a:xfrm>
            <a:off x="4754880" y="324612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" name="Google Shape;286;p13"/>
          <p:cNvSpPr/>
          <p:nvPr/>
        </p:nvSpPr>
        <p:spPr>
          <a:xfrm>
            <a:off x="5257800" y="2651760"/>
            <a:ext cx="2377440" cy="1188720"/>
          </a:xfrm>
          <a:prstGeom prst="roundRect">
            <a:avLst>
              <a:gd fmla="val 6154" name="adj"/>
            </a:avLst>
          </a:prstGeom>
          <a:solidFill>
            <a:srgbClr val="D6E4FB"/>
          </a:solidFill>
          <a:ln cap="flat" cmpd="sng" w="15875">
            <a:solidFill>
              <a:srgbClr val="D6E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5303520" y="265176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5349240" y="278892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Malha de corrente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5349240" y="3218688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A47C2"/>
                </a:solidFill>
              </a:rPr>
              <a:t>J</a:t>
            </a:r>
            <a:r>
              <a:rPr b="1" i="0" lang="en-US" sz="20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á fechada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13"/>
          <p:cNvCxnSpPr/>
          <p:nvPr/>
        </p:nvCxnSpPr>
        <p:spPr>
          <a:xfrm>
            <a:off x="7635240" y="324612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p13"/>
          <p:cNvSpPr/>
          <p:nvPr/>
        </p:nvSpPr>
        <p:spPr>
          <a:xfrm>
            <a:off x="8138160" y="2651760"/>
            <a:ext cx="219456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5875">
            <a:solidFill>
              <a:srgbClr val="C9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8183880" y="265176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8229600" y="27889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Caminho físico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8229600" y="32186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1" baseline="-25000" i="0" lang="en-US" sz="20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1" i="0" lang="en-US" sz="20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(z)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3"/>
          <p:cNvCxnSpPr/>
          <p:nvPr/>
        </p:nvCxnSpPr>
        <p:spPr>
          <a:xfrm>
            <a:off x="10332720" y="32461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13"/>
          <p:cNvSpPr/>
          <p:nvPr/>
        </p:nvSpPr>
        <p:spPr>
          <a:xfrm>
            <a:off x="10607040" y="301752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1060704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3"/>
          <p:cNvCxnSpPr/>
          <p:nvPr/>
        </p:nvCxnSpPr>
        <p:spPr>
          <a:xfrm>
            <a:off x="11064240" y="324612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" name="Google Shape;299;p13"/>
          <p:cNvCxnSpPr/>
          <p:nvPr/>
        </p:nvCxnSpPr>
        <p:spPr>
          <a:xfrm>
            <a:off x="10835640" y="1691640"/>
            <a:ext cx="0" cy="1325880"/>
          </a:xfrm>
          <a:prstGeom prst="straightConnector1">
            <a:avLst/>
          </a:prstGeom>
          <a:noFill/>
          <a:ln cap="flat" cmpd="sng" w="25400">
            <a:solidFill>
              <a:srgbClr val="D6453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0" name="Google Shape;300;p13"/>
          <p:cNvSpPr txBox="1"/>
          <p:nvPr/>
        </p:nvSpPr>
        <p:spPr>
          <a:xfrm>
            <a:off x="9372600" y="15727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6453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64533"/>
                </a:solidFill>
                <a:latin typeface="Arial"/>
                <a:ea typeface="Arial"/>
                <a:cs typeface="Arial"/>
                <a:sym typeface="Arial"/>
              </a:rPr>
              <a:t>w(t) · pista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11018520" y="2788920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baseline="-25000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i="0" lang="en-US" sz="13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(z)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1292840" y="3200400"/>
            <a:ext cx="91440" cy="91440"/>
          </a:xfrm>
          <a:prstGeom prst="ellipse">
            <a:avLst/>
          </a:prstGeom>
          <a:solidFill>
            <a:srgbClr val="111418"/>
          </a:solidFill>
          <a:ln cap="flat" cmpd="sng" w="1270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3" name="Google Shape;303;p13"/>
          <p:cNvCxnSpPr/>
          <p:nvPr/>
        </p:nvCxnSpPr>
        <p:spPr>
          <a:xfrm>
            <a:off x="11338560" y="3246120"/>
            <a:ext cx="0" cy="182880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3"/>
          <p:cNvCxnSpPr/>
          <p:nvPr/>
        </p:nvCxnSpPr>
        <p:spPr>
          <a:xfrm rot="10800000">
            <a:off x="1691640" y="5074920"/>
            <a:ext cx="9646920" cy="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3"/>
          <p:cNvCxnSpPr/>
          <p:nvPr/>
        </p:nvCxnSpPr>
        <p:spPr>
          <a:xfrm rot="10800000">
            <a:off x="1691640" y="3520440"/>
            <a:ext cx="0" cy="1554480"/>
          </a:xfrm>
          <a:prstGeom prst="straightConnector1">
            <a:avLst/>
          </a:prstGeom>
          <a:noFill/>
          <a:ln cap="flat" cmpd="sng" w="25400">
            <a:solidFill>
              <a:srgbClr val="1114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6" name="Google Shape;306;p13"/>
          <p:cNvSpPr txBox="1"/>
          <p:nvPr/>
        </p:nvSpPr>
        <p:spPr>
          <a:xfrm>
            <a:off x="1325880" y="3566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4114800" y="514807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aceleração medida, realimentação negativa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Modelo linearizado para análise de estabilidade.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Relatório S1, seção 14 (Figura 6)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11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 txBox="1"/>
          <p:nvPr/>
        </p:nvSpPr>
        <p:spPr>
          <a:xfrm>
            <a:off x="548640" y="329184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FT DIGITAL + FT CONTÍNUA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548640" y="585216"/>
            <a:ext cx="1109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Função de transferência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geral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48640" y="1319729"/>
            <a:ext cx="11094300" cy="14631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777240" y="1527048"/>
            <a:ext cx="457200" cy="45720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 txBox="1"/>
          <p:nvPr/>
        </p:nvSpPr>
        <p:spPr>
          <a:xfrm>
            <a:off x="777240" y="1527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4513298" y="1367185"/>
            <a:ext cx="3165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Agrupar o caminho contínuo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eq_gcont.png" id="322" name="Google Shape;3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08" y="1882680"/>
            <a:ext cx="5607968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 txBox="1"/>
          <p:nvPr/>
        </p:nvSpPr>
        <p:spPr>
          <a:xfrm>
            <a:off x="4667247" y="2418575"/>
            <a:ext cx="285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Bobina · Válvula · Suspensão · Sensor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48640" y="2926080"/>
            <a:ext cx="11094300" cy="14631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777240" y="3127248"/>
            <a:ext cx="457200" cy="45720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777240" y="3127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4881685" y="3028974"/>
            <a:ext cx="242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Discretizar o conjunto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1417320" y="3584448"/>
            <a:ext cx="1554600" cy="53040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15875">
            <a:solidFill>
              <a:srgbClr val="C9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1463015" y="3575348"/>
            <a:ext cx="1463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1" baseline="-25000" i="0" lang="en-US" sz="15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cont</a:t>
            </a:r>
            <a:r>
              <a:rPr b="1" i="0" lang="en-US" sz="15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(s)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4"/>
          <p:cNvCxnSpPr/>
          <p:nvPr/>
        </p:nvCxnSpPr>
        <p:spPr>
          <a:xfrm>
            <a:off x="3017520" y="3849624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0A47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14"/>
          <p:cNvSpPr txBox="1"/>
          <p:nvPr/>
        </p:nvSpPr>
        <p:spPr>
          <a:xfrm>
            <a:off x="3017520" y="3913632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ZOH, T = 1 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4663440" y="3584448"/>
            <a:ext cx="1554600" cy="530400"/>
          </a:xfrm>
          <a:prstGeom prst="roundRect">
            <a:avLst>
              <a:gd fmla="val 13793" name="adj"/>
            </a:avLst>
          </a:prstGeom>
          <a:solidFill>
            <a:srgbClr val="0A47C2"/>
          </a:solidFill>
          <a:ln cap="flat" cmpd="sng" w="15875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4709135" y="3575348"/>
            <a:ext cx="1463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1" baseline="-2500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(z)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eq_gtotal.png" id="334" name="Google Shape;3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5586" y="3566227"/>
            <a:ext cx="3425483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4"/>
          <p:cNvSpPr/>
          <p:nvPr/>
        </p:nvSpPr>
        <p:spPr>
          <a:xfrm>
            <a:off x="548640" y="4526280"/>
            <a:ext cx="11094300" cy="14631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777240" y="4727448"/>
            <a:ext cx="457200" cy="45720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777240" y="47274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3883049" y="4672094"/>
            <a:ext cx="4425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Combinar com os controladores digitais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1000/-home-viniciusblanco-Documentos-Controle-Digital/183c8177-8a3a-4885-a91f-3ab063296c40/scratchpad/build/figs/eq_M.png" id="339" name="Google Shape;33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639" y="5175504"/>
            <a:ext cx="2261197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claude-1000/-home-viniciusblanco-Documentos-Controle-Digital/183c8177-8a3a-4885-a91f-3ab063296c40/scratchpad/build/figs/eq_cl.png" id="340" name="Google Shape;34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2638" y="5157216"/>
            <a:ext cx="2428311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4"/>
          <p:cNvSpPr txBox="1"/>
          <p:nvPr/>
        </p:nvSpPr>
        <p:spPr>
          <a:xfrm>
            <a:off x="548640" y="6455664"/>
            <a:ext cx="9966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Relatório S1, seção 13 · Ogata, Discrete-Time Control Systems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10545775" y="6455664"/>
            <a:ext cx="109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12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4F7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O QUE VEM AGORA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Próximos </a:t>
            </a:r>
            <a:r>
              <a:rPr b="1" i="0" lang="en-US" sz="36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passos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548640" y="1371600"/>
            <a:ext cx="2606100" cy="3520500"/>
          </a:xfrm>
          <a:prstGeom prst="roundRect">
            <a:avLst>
              <a:gd fmla="val 491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777240" y="15544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2377440" y="1572768"/>
            <a:ext cx="548640" cy="54864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9114" y="17044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5"/>
          <p:cNvSpPr txBox="1"/>
          <p:nvPr/>
        </p:nvSpPr>
        <p:spPr>
          <a:xfrm>
            <a:off x="777240" y="2697480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 txBox="1"/>
          <p:nvPr/>
        </p:nvSpPr>
        <p:spPr>
          <a:xfrm>
            <a:off x="777240" y="3200400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Modelo não linear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3378098" y="1371600"/>
            <a:ext cx="2606040" cy="3520440"/>
          </a:xfrm>
          <a:prstGeom prst="roundRect">
            <a:avLst>
              <a:gd fmla="val 491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3606698" y="15544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206898" y="1572768"/>
            <a:ext cx="548640" cy="54864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8572" y="17044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5"/>
          <p:cNvSpPr txBox="1"/>
          <p:nvPr/>
        </p:nvSpPr>
        <p:spPr>
          <a:xfrm>
            <a:off x="3558273" y="2697468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Comparar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 txBox="1"/>
          <p:nvPr/>
        </p:nvSpPr>
        <p:spPr>
          <a:xfrm>
            <a:off x="3558273" y="3200388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Suspensão passiva × semiativa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6207557" y="1371600"/>
            <a:ext cx="2606040" cy="3520440"/>
          </a:xfrm>
          <a:prstGeom prst="roundRect">
            <a:avLst>
              <a:gd fmla="val 491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6436157" y="15544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8036357" y="1572768"/>
            <a:ext cx="548640" cy="54864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8030" y="17044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5"/>
          <p:cNvSpPr txBox="1"/>
          <p:nvPr/>
        </p:nvSpPr>
        <p:spPr>
          <a:xfrm>
            <a:off x="6436157" y="2712452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Ajustar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 txBox="1"/>
          <p:nvPr/>
        </p:nvSpPr>
        <p:spPr>
          <a:xfrm>
            <a:off x="6436120" y="3155934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Ganho skyhook e limites de operação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9037015" y="1371600"/>
            <a:ext cx="2606040" cy="3520440"/>
          </a:xfrm>
          <a:prstGeom prst="roundRect">
            <a:avLst>
              <a:gd fmla="val 4912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9265615" y="15544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10865815" y="1572768"/>
            <a:ext cx="548640" cy="548640"/>
          </a:xfrm>
          <a:prstGeom prst="ellipse">
            <a:avLst/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97489" y="17044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 txBox="1"/>
          <p:nvPr/>
        </p:nvSpPr>
        <p:spPr>
          <a:xfrm>
            <a:off x="9265590" y="2756905"/>
            <a:ext cx="214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1" sz="2100">
              <a:solidFill>
                <a:srgbClr val="111418"/>
              </a:solidFill>
            </a:endParaRPr>
          </a:p>
        </p:txBody>
      </p:sp>
      <p:sp>
        <p:nvSpPr>
          <p:cNvPr id="373" name="Google Shape;373;p15"/>
          <p:cNvSpPr txBox="1"/>
          <p:nvPr/>
        </p:nvSpPr>
        <p:spPr>
          <a:xfrm>
            <a:off x="9265565" y="3200388"/>
            <a:ext cx="214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Conforto, aderência e robustez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48840" y="5239488"/>
            <a:ext cx="11094300" cy="777300"/>
          </a:xfrm>
          <a:prstGeom prst="roundRect">
            <a:avLst>
              <a:gd fmla="val 16471" name="adj"/>
            </a:avLst>
          </a:prstGeom>
          <a:solidFill>
            <a:srgbClr val="0A47C2"/>
          </a:solidFill>
          <a:ln cap="flat" cmpd="sng" w="12700">
            <a:solidFill>
              <a:srgbClr val="0A4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 txBox="1"/>
          <p:nvPr/>
        </p:nvSpPr>
        <p:spPr>
          <a:xfrm>
            <a:off x="548840" y="5239488"/>
            <a:ext cx="1109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4F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6E4FB"/>
                </a:solidFill>
                <a:latin typeface="Arial"/>
                <a:ea typeface="Arial"/>
                <a:cs typeface="Arial"/>
                <a:sym typeface="Arial"/>
              </a:rPr>
              <a:t>Testes: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lombada · pista irregular · variação de parâmetros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548640" y="6455664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[2] Díaz-Choque et al. 2021, §5–7 · [11] ISO 8608 · [12] ISO 2631-1 · [10] Strecker et al. 2015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13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FONTES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 txBox="1"/>
          <p:nvPr/>
        </p:nvSpPr>
        <p:spPr>
          <a:xfrm>
            <a:off x="548640" y="585216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548640" y="1417320"/>
            <a:ext cx="5394960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[1] WANG, J. et al. Skyhook-Based Techniques for Vehicle Suspension Control: A Review of the State of the Art. Machines, 13, 727, 2025.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[2] DÍAZ-CHOQUE, C. S.; FÉLIX-HERRÁN, L. C.; RAMÍREZ-MENDOZA, R. A. Optimal Skyhook and Groundhook Control for Semiactive Suspension. Shock and Vibration, 2021.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[3] EDUARDO, G. P.; OHARA, P. P. H.; OLIVEIRA, R. J. G. Suspensão semiativa com controle híbrido para valores diferentes de α. TCC, Mackenzie, 2020.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[4] ZF FRIEDRICHSHAFEN AG. CDC: Smart Damping for More Driving Fun (zf.com); ZF Aftermarket, SACHS CDC dampers, 2012.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[5] KUTSCHE, T.; RAULF, M. Optimised ride control for passenger cars and commercial vehicles. ATZ Worldwide, 103, 2001 (citado em [1]).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[6] ZF FRIEDRICHSHAFEN AG. Patente EP 1 927 783 A2, 2006.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[7] DELPHI TECHNOLOGIES. Patente US 6.390.252 B1.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[8] HYDRAFORCE. Proportional Coil Data (série 70). Catálogo técnico.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6263640" y="1417320"/>
            <a:ext cx="5376672" cy="48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[9] ORTIZ-ESPINOZA, A. et al. Comparison of Semi-Active Suspension Controllers. ADCONIP 2014, p. 257–260.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[10] STRECKER, Z. et al. Influence of MR damper response time on semiactive suspension control efficiency. Meccanica, 50, 2015.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[11] ISO 8608. Mechanical vibration — Road surface profiles.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[12] ISO 2631-1. Mechanical vibration and shock — Whole-body vibration.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[13] KARNOPP, D.; CROSBY, M. J.; HARWOOD, R. A. Vibration Control Using Semi-Active Force Generators. ASME J. Eng. Ind., 96(2), 1974.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[14] GILLESPIE, T. D. Fundamentals of Vehicle Dynamics. SAE, 1992 · JAZAR, R. N. Vehicle Dynamics. Springer, 2014 (citados em [3]).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1141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418"/>
                </a:solidFill>
                <a:latin typeface="Arial"/>
                <a:ea typeface="Arial"/>
                <a:cs typeface="Arial"/>
                <a:sym typeface="Arial"/>
              </a:rPr>
              <a:t>[15] TLX TECHNOLOGIES. PWM Solenoid Theory · OGATA, K. Discrete-Time Control Systems.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47C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47C2"/>
                </a:solidFill>
                <a:latin typeface="Arial"/>
                <a:ea typeface="Arial"/>
                <a:cs typeface="Arial"/>
                <a:sym typeface="Arial"/>
              </a:rPr>
              <a:t>14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47C2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 txBox="1"/>
          <p:nvPr/>
        </p:nvSpPr>
        <p:spPr>
          <a:xfrm>
            <a:off x="3496950" y="2365650"/>
            <a:ext cx="5198100" cy="21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6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  Perguntas?</a:t>
            </a:r>
            <a:endParaRPr b="0" i="0" sz="6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10545775" y="64556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/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